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457200"/>
            <a:ext cx="1828800" cy="1828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502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INTRODUTÓRIO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365760" y="960120"/>
            <a:ext cx="6583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para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Bioinformática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365760" y="29718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zero à análise de sequências de DNA em 3 horas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365760" y="379476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6576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34640" y="379476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3464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instalação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303520" y="3794760"/>
            <a:ext cx="224028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03520" y="379476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Biologia + Código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 Aula online síncrona  |  18:00 – 21:00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82880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137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da Aula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274320" y="109728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97280"/>
            <a:ext cx="10972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152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– 18:40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02920" y="14081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Conceitual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297680" y="124358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Variáveis, tipos, listas, dicionários, funções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4320" y="1865376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74320" y="1865376"/>
            <a:ext cx="10972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1920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18:40 – 19:40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02920" y="21762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 Guiada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297680" y="2011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coding no Colab: sequências, FASTA, erros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74320" y="2633472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633472"/>
            <a:ext cx="109728" cy="658368"/>
          </a:xfrm>
          <a:prstGeom prst="rect">
            <a:avLst/>
          </a:prstGeom>
          <a:solidFill>
            <a:srgbClr val="8DAEC0"/>
          </a:solidFill>
          <a:ln w="12700">
            <a:solidFill>
              <a:srgbClr val="8DAEC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19:40 – 19:50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2920" y="29443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Intervalo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74320" y="3401568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74320" y="3401568"/>
            <a:ext cx="109728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19:50 – 20:40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502920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Aplicado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297680" y="35478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Mini-pipeline independente com genes de dor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74320" y="4169664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274320" y="4169664"/>
            <a:ext cx="109728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02920" y="4224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20:40 – 21:00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502920" y="44805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Discussão &amp; Dúvidas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4297680" y="43159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+ próximos passos em bioinformática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2809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16070"/>
          </a:solidFill>
          <a:ln w="12700">
            <a:solidFill>
              <a:srgbClr val="01607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1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914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Conceituais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18:00 – 18:40  |  40 minutos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4864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Python? • Variáveis • Tipos de Dados • Listas • Dicionários • Funções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Python em Bioinformática?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2004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320040" y="1097280"/>
            <a:ext cx="91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872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Legível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188720" y="16642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código parece inglês — fácil de aprender e entender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754880" y="10972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754880" y="1097280"/>
            <a:ext cx="91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417320"/>
            <a:ext cx="548640" cy="5486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23560" y="12984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Bibliotecas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5623560" y="166420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BioPython, pandas, Scanpy, NumPy, matplotlib...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32004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" y="2880360"/>
            <a:ext cx="91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00400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18872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188720" y="3447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RSG Brasil, Bioconductor, Stack Exchange — sempre tem ajuda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754880" y="288036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754880" y="2880360"/>
            <a:ext cx="91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3200400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623560" y="308152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5623560" y="3447288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Nextflow, Snakemake, WDL — todos integram Python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274320" y="4709160"/>
            <a:ext cx="859536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que usam Python:  Scanpy  •  DESeq2 wrappers  •  STAR  •  Cell Ranger  •  Seurat  •  BioPython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— Seu Ambiente de Trabalho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393192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é?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627632"/>
            <a:ext cx="201168" cy="2011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3232" y="15819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interativo no navegador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130552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3232" y="208483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instalação — só Google</a:t>
            </a:r>
            <a:endParaRPr lang="en-US" sz="13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633472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3232" y="2587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já configurado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136392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3232" y="30906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 gratuitas para análises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363931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13232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direto no Google Drive</a:t>
            </a:r>
            <a:endParaRPr lang="en-US" sz="1300" dirty="0"/>
          </a:p>
        </p:txBody>
      </p:sp>
      <p:sp>
        <p:nvSpPr>
          <p:cNvPr id="18" name="Shape 10"/>
          <p:cNvSpPr/>
          <p:nvPr/>
        </p:nvSpPr>
        <p:spPr>
          <a:xfrm>
            <a:off x="4572000" y="1051560"/>
            <a:ext cx="42519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572000" y="1051560"/>
            <a:ext cx="425196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4709160" y="10515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 Essenciais</a:t>
            </a:r>
            <a:endParaRPr lang="en-US" sz="1400" dirty="0"/>
          </a:p>
        </p:txBody>
      </p:sp>
      <p:sp>
        <p:nvSpPr>
          <p:cNvPr id="21" name="Shape 13"/>
          <p:cNvSpPr/>
          <p:nvPr/>
        </p:nvSpPr>
        <p:spPr>
          <a:xfrm>
            <a:off x="4709160" y="162763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4709160" y="162763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 + Enter</a:t>
            </a:r>
            <a:endParaRPr lang="en-US" sz="1100" dirty="0"/>
          </a:p>
        </p:txBody>
      </p:sp>
      <p:sp>
        <p:nvSpPr>
          <p:cNvPr id="23" name="Text 15"/>
          <p:cNvSpPr/>
          <p:nvPr/>
        </p:nvSpPr>
        <p:spPr>
          <a:xfrm>
            <a:off x="6537960" y="16642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Executar célula</a:t>
            </a:r>
            <a:endParaRPr lang="en-US" sz="1200" dirty="0"/>
          </a:p>
        </p:txBody>
      </p:sp>
      <p:sp>
        <p:nvSpPr>
          <p:cNvPr id="24" name="Shape 16"/>
          <p:cNvSpPr/>
          <p:nvPr/>
        </p:nvSpPr>
        <p:spPr>
          <a:xfrm>
            <a:off x="4709160" y="213055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4709160" y="213055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M, B</a:t>
            </a:r>
            <a:endParaRPr lang="en-US" sz="1100" dirty="0"/>
          </a:p>
        </p:txBody>
      </p:sp>
      <p:sp>
        <p:nvSpPr>
          <p:cNvPr id="26" name="Text 18"/>
          <p:cNvSpPr/>
          <p:nvPr/>
        </p:nvSpPr>
        <p:spPr>
          <a:xfrm>
            <a:off x="6537960" y="21671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célula abaixo</a:t>
            </a:r>
            <a:endParaRPr lang="en-US" sz="1200" dirty="0"/>
          </a:p>
        </p:txBody>
      </p:sp>
      <p:sp>
        <p:nvSpPr>
          <p:cNvPr id="27" name="Shape 19"/>
          <p:cNvSpPr/>
          <p:nvPr/>
        </p:nvSpPr>
        <p:spPr>
          <a:xfrm>
            <a:off x="4709160" y="263347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4709160" y="263347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M, M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537960" y="267004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de texto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4709160" y="313639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4709160" y="313639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/</a:t>
            </a:r>
            <a:endParaRPr lang="en-US" sz="1100" dirty="0"/>
          </a:p>
        </p:txBody>
      </p:sp>
      <p:sp>
        <p:nvSpPr>
          <p:cNvPr id="32" name="Text 24"/>
          <p:cNvSpPr/>
          <p:nvPr/>
        </p:nvSpPr>
        <p:spPr>
          <a:xfrm>
            <a:off x="6537960" y="317296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 código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709160" y="3639312"/>
            <a:ext cx="1691640" cy="310896"/>
          </a:xfrm>
          <a:prstGeom prst="roundRect">
            <a:avLst>
              <a:gd name="adj" fmla="val 17647"/>
            </a:avLst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4709160" y="3639312"/>
            <a:ext cx="1691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537960" y="367588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4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Desfazer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457200" y="4681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print("Hello, DNA! 🧬")   →   Hello, DNA! 🧬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e Tipos de Dados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5156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51560"/>
            <a:ext cx="86868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105156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1188720"/>
            <a:ext cx="3749040" cy="5029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371600" y="11887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 = "BRCA1"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166360" y="12527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Sequências, nomes de genes, IDs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74320" y="201168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4320" y="2011680"/>
            <a:ext cx="868680" cy="80467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201168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280160" y="2148840"/>
            <a:ext cx="3749040" cy="5029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71600" y="21488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posicao = 43044295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66360" y="221284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Posições genômicas, contagens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4320" y="297180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2971800"/>
            <a:ext cx="868680" cy="8046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297180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280160" y="3108960"/>
            <a:ext cx="3749040" cy="5029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71600" y="310896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gc_content = 0.587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166360" y="317296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Scores, proporções, p-valores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274320" y="3931920"/>
            <a:ext cx="8595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74320" y="3931920"/>
            <a:ext cx="868680" cy="80467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74320" y="3931920"/>
            <a:ext cx="8686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280160" y="4069080"/>
            <a:ext cx="3749040" cy="5029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371600" y="406908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eh_oncogene = True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66360" y="413308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 lógicas em análises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Dica: use print(type(variavel)) para ver o tipo de qualquer dado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— O Tipo da Sequência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54864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7432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914400" y="1024128"/>
            <a:ext cx="54864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554480" y="1024128"/>
            <a:ext cx="54864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55448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55448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194560" y="1024128"/>
            <a:ext cx="5486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219456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834640" y="1024128"/>
            <a:ext cx="54864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83464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474720" y="1024128"/>
            <a:ext cx="54864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7472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347472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0" y="1024128"/>
            <a:ext cx="54864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11480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11480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754880" y="1024128"/>
            <a:ext cx="5486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75488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475488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394960" y="1024128"/>
            <a:ext cx="54864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39496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539496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6035040" y="1024128"/>
            <a:ext cx="548640" cy="5029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3504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03504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6675120" y="1024128"/>
            <a:ext cx="548640" cy="502920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67512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667512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7315200" y="1024128"/>
            <a:ext cx="54864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31520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731520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955280" y="1024128"/>
            <a:ext cx="548640" cy="5029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55280" y="102412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7955280" y="1554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274320" y="15727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→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74320" y="1920240"/>
            <a:ext cx="8595360" cy="29260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02920" y="204825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"ATGCGATCGATCG"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02920" y="244144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len(seq)        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13</a:t>
            </a:r>
            <a:endParaRPr lang="en-US" sz="1300" dirty="0"/>
          </a:p>
        </p:txBody>
      </p:sp>
      <p:sp>
        <p:nvSpPr>
          <p:cNvPr id="48" name="Text 45"/>
          <p:cNvSpPr/>
          <p:nvPr/>
        </p:nvSpPr>
        <p:spPr>
          <a:xfrm>
            <a:off x="502920" y="283464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seq[0]          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'A'   (primeiro)</a:t>
            </a:r>
            <a:endParaRPr lang="en-US" sz="1300" dirty="0"/>
          </a:p>
        </p:txBody>
      </p:sp>
      <p:sp>
        <p:nvSpPr>
          <p:cNvPr id="49" name="Text 46"/>
          <p:cNvSpPr/>
          <p:nvPr/>
        </p:nvSpPr>
        <p:spPr>
          <a:xfrm>
            <a:off x="502920" y="3227832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seq[-1]         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'G'   (último)</a:t>
            </a:r>
            <a:endParaRPr lang="en-US" sz="1300" dirty="0"/>
          </a:p>
        </p:txBody>
      </p:sp>
      <p:sp>
        <p:nvSpPr>
          <p:cNvPr id="50" name="Text 47"/>
          <p:cNvSpPr/>
          <p:nvPr/>
        </p:nvSpPr>
        <p:spPr>
          <a:xfrm>
            <a:off x="502920" y="3621024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seq[0:3]        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'ATG' (1º códon)</a:t>
            </a:r>
            <a:endParaRPr lang="en-US" sz="1300" dirty="0"/>
          </a:p>
        </p:txBody>
      </p:sp>
      <p:sp>
        <p:nvSpPr>
          <p:cNvPr id="51" name="Text 48"/>
          <p:cNvSpPr/>
          <p:nvPr/>
        </p:nvSpPr>
        <p:spPr>
          <a:xfrm>
            <a:off x="502920" y="4014216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seq.count("G")  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→ 4</a:t>
            </a:r>
            <a:endParaRPr lang="en-US" sz="1300" dirty="0"/>
          </a:p>
        </p:txBody>
      </p:sp>
      <p:sp>
        <p:nvSpPr>
          <p:cNvPr id="52" name="Text 49"/>
          <p:cNvSpPr/>
          <p:nvPr/>
        </p:nvSpPr>
        <p:spPr>
          <a:xfrm>
            <a:off x="502920" y="440740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seq.replace("T","U")  </a:t>
            </a:r>
            <a:pPr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transcrição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e Dicionários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274320" y="1024128"/>
            <a:ext cx="411480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11480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  [ ]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1148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sequências de amostras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1148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amostras = ["ATGCGT",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11480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"GCTAGC",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11480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"TTAGCA"]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1148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amostras[0]      # 'ATGCGT'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len(amostras)    # 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1148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1148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seq in amostras: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4480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print(len(seq))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54880" y="1024128"/>
            <a:ext cx="41148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024128"/>
            <a:ext cx="4114800" cy="4114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92040" y="102412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dict  { }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892040" y="15087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Contagem de nucleotídeos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19202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 = {"A": 4,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92040" y="22402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"T": 2,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4892040" y="25603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"G": 3,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892040" y="28803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"C": 3}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92040" y="32004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92040" y="3520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contagem["A"]    # 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92040" y="3840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contagem.keys()  # A,T,G,C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489204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92040" y="448056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base, n in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92040" y="480060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contagem.items():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92040" y="51206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print(base, n)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Estruturas de Controle e Funções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274320" y="1024128"/>
            <a:ext cx="4114800" cy="2103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/ elif / else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gc = 0.65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2066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gc &gt; 0.60: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print("GC alto")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elif gc &gt; 0.40: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print("GC normal")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575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print("GC baixo")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754880" y="1024128"/>
            <a:ext cx="4114800" cy="210312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89204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laço for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seqs = ["ATGCGT",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892040" y="17647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"GCTAGC"]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92040" y="206654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892040" y="236829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seq in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92040" y="26700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enumerate(seqs):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892040" y="29718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gc = (seq.count('G')+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892040" y="327355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seq.count('C'))/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4892040" y="357530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len(seq)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892040" y="3877056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print(i, gc)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274320" y="3291840"/>
            <a:ext cx="8595360" cy="16002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57200" y="33467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 — criando funções reutilizáveis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02920" y="3749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calcular_gc(seq):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02920" y="40690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gc = seq.count('G') + seq.count('C')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02920" y="43891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gc / len(seq)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47091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02920" y="502920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print(calcular_gc('ATGCGC'))   # → 0.6666...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45970"/>
          </a:solidFill>
          <a:ln w="12700">
            <a:solidFill>
              <a:srgbClr val="14597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6576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2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Prática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Guiada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18:40 – 19:40  |  60 minutos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notebook  02_pratica_guiada.ipynb  no Colab e acompanhe ao vivo!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FASTA — O Padrão em Bioinformática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3840480" cy="22860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11480" y="10515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FASTA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14264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&gt;seq1|TRPV1|Homo_sapiens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17282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ATGGAGGAGCCGCAGTCAG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02996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ATCCTAGCGTTGAATCCTG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2331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26334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&gt;seq2|KRAS|Homo_sapiens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ATGACTGAATATAAACTTG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32369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TGGTAGTTGGAGCTGGTGG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343400" y="1005840"/>
            <a:ext cx="4480560" cy="38404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480560" y="10515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em Python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80560" y="141732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parsear_fasta(texto):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80560" y="175564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seqs = {}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480560" y="209397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header = None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480560" y="243230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 = []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4480560" y="277063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linha in texto.split('\n'):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480560" y="310896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linha.startswith('&gt;'):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480560" y="344728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header: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480560" y="378561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seqs[header]=''.join(seq)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4480560" y="412394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header = linha[1:]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4480560" y="4462272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seq = []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480560" y="4800600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elif linha: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480560" y="5138928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seq.append(linha)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4480560" y="5477256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seqs[header] = ''.join(seq)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4480560" y="5815584"/>
            <a:ext cx="42062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seqs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274320" y="3429000"/>
            <a:ext cx="3840480" cy="6400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11480" y="3456432"/>
            <a:ext cx="3566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header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(pode ter múltiplas linhas)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Lendo Erros do Python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entre em pânico — o erro é informativo! Leia sempre a última linha.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25880"/>
            <a:ext cx="4114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SyntaxError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1801368"/>
            <a:ext cx="384048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print("Hello"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Parêntese faltando: print("Hello")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325880"/>
            <a:ext cx="4114800" cy="38404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3258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NameError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46320" y="1801368"/>
            <a:ext cx="384048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82880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print(sequencia)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24688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Variável 'sequencia' não foi definida ainda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200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200400"/>
            <a:ext cx="4114800" cy="384048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IndexError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" y="3675888"/>
            <a:ext cx="384048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7033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"ATG"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seq[10]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Índice 10 não existe — seq tem só 3 posições (0,1,2)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200400"/>
            <a:ext cx="41148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3200400"/>
            <a:ext cx="4114800" cy="384048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2004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KeyError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846320" y="3675888"/>
            <a:ext cx="3840480" cy="56692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703320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 = {"A":1}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dic["G"]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46320" y="434340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D5A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"G" não está no dicionário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365760"/>
            <a:ext cx="2103120" cy="2103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572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640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Aplicado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19:50 – 20:40  |  50 minutos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3703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notebook  03_exercicio_aplicado.ipynb  e resolva o mini-pipeline!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55448"/>
            <a:ext cx="594360" cy="594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109728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Mini-pipeline: Analisando Genes de Dor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274320" y="1005840"/>
            <a:ext cx="859536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05840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Dataset: 5 sequências FASTA de genes humanos relacionados a dor e inflamação (TRPV1, TRPA1, PIEZO2, IL6, NGF)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74320" y="173736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1737360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74320" y="173736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17739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do FASTA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914400" y="201168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 texto em dicionário {header: sequência}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74320" y="237744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4320" y="2377440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4320" y="237744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14400" y="241401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 Content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914400" y="265176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classificar: baixo / normal / alto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74320" y="301752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74320" y="3017520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4320" y="301752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914400" y="305409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Sequência mais longa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914400" y="329184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o gene com maior número de bases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74320" y="365760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3657600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74320" y="365760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914400" y="369417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reverso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14400" y="393192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e verificar comprimento igual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74320" y="4297680"/>
            <a:ext cx="8595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5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274320" y="4297680"/>
            <a:ext cx="502920" cy="5303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274320" y="4297680"/>
            <a:ext cx="502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914400" y="43342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Final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914400" y="4572000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Imprimir resumo formatado de toda a análise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BÔNUS: contagem global de nucleotídeos em todas as sequências combinadas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Próximos Passos em Bioinformática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8595360" cy="658368"/>
          </a:xfrm>
          <a:prstGeom prst="rect">
            <a:avLst/>
          </a:prstGeom>
          <a:solidFill>
            <a:srgbClr val="0E1F3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51560"/>
            <a:ext cx="14630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51560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BioPython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1197864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de GenBank, BLAST programático, alinhamento de sequências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819656"/>
            <a:ext cx="8595360" cy="658368"/>
          </a:xfrm>
          <a:prstGeom prst="rect">
            <a:avLst/>
          </a:prstGeom>
          <a:solidFill>
            <a:srgbClr val="0E1F3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1819656"/>
            <a:ext cx="1463040" cy="65836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819656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 de expressão gênica, metadados de amostras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587752"/>
            <a:ext cx="8595360" cy="658368"/>
          </a:xfrm>
          <a:prstGeom prst="rect">
            <a:avLst/>
          </a:prstGeom>
          <a:solidFill>
            <a:srgbClr val="0E1F3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587752"/>
            <a:ext cx="1463040" cy="65836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587752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matplotlib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734056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plots, heatmaps, visualização de dados biológicos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74320" y="3355848"/>
            <a:ext cx="8595360" cy="658368"/>
          </a:xfrm>
          <a:prstGeom prst="rect">
            <a:avLst/>
          </a:prstGeom>
          <a:solidFill>
            <a:srgbClr val="0E1F3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3355848"/>
            <a:ext cx="1463040" cy="658368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558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Scanpy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920240" y="350215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scRNA-seq: clustering, UMAP, anotação de células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" y="4123944"/>
            <a:ext cx="8595360" cy="658368"/>
          </a:xfrm>
          <a:prstGeom prst="rect">
            <a:avLst/>
          </a:prstGeom>
          <a:solidFill>
            <a:srgbClr val="0E1F30"/>
          </a:solidFill>
          <a:ln w="12700">
            <a:solidFill>
              <a:srgbClr val="1A304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4123944"/>
            <a:ext cx="1463040" cy="658368"/>
          </a:xfrm>
          <a:prstGeom prst="rect">
            <a:avLst/>
          </a:prstGeom>
          <a:solidFill>
            <a:srgbClr val="1D6A52"/>
          </a:solidFill>
          <a:ln w="12700">
            <a:solidFill>
              <a:srgbClr val="1D6A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4123944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Nextflow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20240" y="4270248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4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 reprodutíveis em HPC/cloud para análises em larga escala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457200"/>
            <a:ext cx="1828800" cy="1828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54864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Parabéns! 🎉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11480" y="13258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completou o Módulo Introdutório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Python para Bioinformática.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7432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Variáveis &amp; Tipos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103120" y="27432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3120" y="2743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Listas &amp; Dicts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94760" y="27432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94760" y="2743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Funções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0" y="27432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0" y="2743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FASTA Parser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178040" y="2743200"/>
            <a:ext cx="1508760" cy="502920"/>
          </a:xfrm>
          <a:prstGeom prst="roundRect">
            <a:avLst>
              <a:gd name="adj" fmla="val 21818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78040" y="274320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Mini-pipeline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disponível no GitHub  •  Dúvidas via chat  •  Até a próxima! 🧬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para Bioinformática — Módulo Introdutório</dc:title>
  <dc:subject>PptxGenJS Presentation</dc:subject>
  <dc:creator>Python para Bioinformática</dc:creator>
  <cp:lastModifiedBy>Python para Bioinformática</cp:lastModifiedBy>
  <cp:revision>1</cp:revision>
  <dcterms:created xsi:type="dcterms:W3CDTF">2026-03-06T14:32:00Z</dcterms:created>
  <dcterms:modified xsi:type="dcterms:W3CDTF">2026-03-06T14:32:00Z</dcterms:modified>
</cp:coreProperties>
</file>